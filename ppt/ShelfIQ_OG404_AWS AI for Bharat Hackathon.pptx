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itchFamily="2" charset="0"/>
      <p:regular r:id="rId14"/>
      <p:bold r:id="rId15"/>
    </p:embeddedFont>
    <p:embeddedFont>
      <p:font typeface="Manrope SemiBold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39" d="100"/>
          <a:sy n="139" d="100"/>
        </p:scale>
        <p:origin x="176" y="5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OG404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63" y="4298158"/>
            <a:ext cx="8520600" cy="59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Statement: </a:t>
            </a:r>
            <a:r>
              <a:rPr lang="en-US" sz="1600" dirty="0">
                <a:solidFill>
                  <a:srgbClr val="202729"/>
                </a:solidFill>
                <a:latin typeface="Manrope SemiBold"/>
              </a:rPr>
              <a:t>Market conditions change fast. Sellers get data, not decisions.</a:t>
            </a:r>
            <a:endParaRPr sz="1600" dirty="0">
              <a:solidFill>
                <a:srgbClr val="202729"/>
              </a:solidFill>
              <a:latin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Jeejo Joy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8394978" cy="380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b="1" dirty="0">
                <a:solidFill>
                  <a:srgbClr val="202729"/>
                </a:solidFill>
                <a:latin typeface="Manrope"/>
                <a:sym typeface="Manrope"/>
              </a:rPr>
              <a:t>Brief about the Idea: </a:t>
            </a:r>
            <a:r>
              <a:rPr lang="en-US" b="1" dirty="0">
                <a:solidFill>
                  <a:srgbClr val="202729"/>
                </a:solidFill>
                <a:latin typeface="Manrope"/>
              </a:rPr>
              <a:t>Sellers Are Flying Blind</a:t>
            </a:r>
          </a:p>
          <a:p>
            <a:r>
              <a:rPr lang="en-US" dirty="0">
                <a:solidFill>
                  <a:srgbClr val="202729"/>
                </a:solidFill>
                <a:latin typeface="Manrope"/>
              </a:rPr>
              <a:t>Indian sellers competing against hundreds of sellers on Amazon, Flipkart, and Meesho—but they can't see what's happening in the market.</a:t>
            </a:r>
          </a:p>
          <a:p>
            <a:endParaRPr lang="en-US" dirty="0">
              <a:solidFill>
                <a:srgbClr val="202729"/>
              </a:solidFill>
              <a:latin typeface="Manrope"/>
            </a:endParaRPr>
          </a:p>
          <a:p>
            <a:r>
              <a:rPr lang="en-US" dirty="0">
                <a:solidFill>
                  <a:srgbClr val="202729"/>
                </a:solidFill>
                <a:latin typeface="Manrope"/>
              </a:rPr>
              <a:t>The </a:t>
            </a:r>
            <a:r>
              <a:rPr lang="en-US" b="1" dirty="0">
                <a:solidFill>
                  <a:srgbClr val="202729"/>
                </a:solidFill>
                <a:latin typeface="Manrope"/>
              </a:rPr>
              <a:t>result</a:t>
            </a:r>
            <a:r>
              <a:rPr lang="en-US" dirty="0">
                <a:solidFill>
                  <a:srgbClr val="202729"/>
                </a:solidFill>
                <a:latin typeface="Manrope"/>
              </a:rPr>
              <a:t>?</a:t>
            </a:r>
          </a:p>
          <a:p>
            <a:endParaRPr lang="en-US" dirty="0">
              <a:solidFill>
                <a:srgbClr val="202729"/>
              </a:solidFill>
              <a:latin typeface="Manrope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202729"/>
                </a:solidFill>
                <a:latin typeface="Manrope"/>
              </a:rPr>
              <a:t>Prices set by guesswork, not data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202729"/>
                </a:solidFill>
                <a:latin typeface="Manrope"/>
              </a:rPr>
              <a:t>Stockouts when demand spikes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202729"/>
                </a:solidFill>
                <a:latin typeface="Manrope"/>
              </a:rPr>
              <a:t>Overstock when demand drops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202729"/>
                </a:solidFill>
                <a:latin typeface="Manrope"/>
              </a:rPr>
              <a:t>Lost sales to better-positioned competitors</a:t>
            </a:r>
          </a:p>
          <a:p>
            <a:endParaRPr lang="en-US" dirty="0">
              <a:solidFill>
                <a:srgbClr val="202729"/>
              </a:solidFill>
              <a:latin typeface="Manrope"/>
            </a:endParaRPr>
          </a:p>
          <a:p>
            <a:r>
              <a:rPr lang="en-US" dirty="0">
                <a:solidFill>
                  <a:srgbClr val="202729"/>
                </a:solidFill>
                <a:latin typeface="Manrope"/>
              </a:rPr>
              <a:t>It's like playing chess blindfolded while everyone else can see the board.</a:t>
            </a:r>
          </a:p>
          <a:p>
            <a:br>
              <a:rPr lang="en-US" dirty="0">
                <a:solidFill>
                  <a:srgbClr val="202729"/>
                </a:solidFill>
                <a:latin typeface="Manrope"/>
              </a:rPr>
            </a:br>
            <a:endParaRPr lang="en-US" dirty="0">
              <a:solidFill>
                <a:srgbClr val="202729"/>
              </a:solidFill>
              <a:latin typeface="Manrope"/>
            </a:endParaRPr>
          </a:p>
          <a:p>
            <a:r>
              <a:rPr lang="en-US" b="1" dirty="0">
                <a:solidFill>
                  <a:srgbClr val="202729"/>
                </a:solidFill>
                <a:latin typeface="Manrope"/>
              </a:rPr>
              <a:t>The Solution: ShelfIQ - Your AI Co-Pilot</a:t>
            </a:r>
          </a:p>
          <a:p>
            <a:endParaRPr lang="en-US" dirty="0">
              <a:solidFill>
                <a:srgbClr val="202729"/>
              </a:solidFill>
              <a:latin typeface="Manrope"/>
            </a:endParaRPr>
          </a:p>
          <a:p>
            <a:r>
              <a:rPr lang="en-US" dirty="0">
                <a:solidFill>
                  <a:srgbClr val="202729"/>
                </a:solidFill>
                <a:latin typeface="Manrope"/>
              </a:rPr>
              <a:t>Think of ShelfIQ as your always-on market analyst:</a:t>
            </a:r>
          </a:p>
          <a:p>
            <a:endParaRPr lang="en-US" dirty="0">
              <a:solidFill>
                <a:srgbClr val="202729"/>
              </a:solidFill>
              <a:latin typeface="Manrope"/>
            </a:endParaRPr>
          </a:p>
          <a:p>
            <a:r>
              <a:rPr lang="en-US" b="1" dirty="0">
                <a:solidFill>
                  <a:srgbClr val="202729"/>
                </a:solidFill>
                <a:latin typeface="Manrope"/>
              </a:rPr>
              <a:t>🔍 Watches</a:t>
            </a:r>
            <a:r>
              <a:rPr lang="en-US" dirty="0">
                <a:solidFill>
                  <a:srgbClr val="202729"/>
                </a:solidFill>
                <a:latin typeface="Manrope"/>
              </a:rPr>
              <a:t> → Tracks competitor prices and market trends continuously 🧠 </a:t>
            </a:r>
            <a:r>
              <a:rPr lang="en-US" b="1" dirty="0">
                <a:solidFill>
                  <a:srgbClr val="202729"/>
                </a:solidFill>
                <a:latin typeface="Manrope"/>
              </a:rPr>
              <a:t>Thinks</a:t>
            </a:r>
            <a:r>
              <a:rPr lang="en-US" dirty="0">
                <a:solidFill>
                  <a:srgbClr val="202729"/>
                </a:solidFill>
                <a:latin typeface="Manrope"/>
              </a:rPr>
              <a:t> → AI predicts demand and calculates optimal prices 💡 </a:t>
            </a:r>
            <a:r>
              <a:rPr lang="en-US" b="1" dirty="0">
                <a:solidFill>
                  <a:srgbClr val="202729"/>
                </a:solidFill>
                <a:latin typeface="Manrope"/>
              </a:rPr>
              <a:t>Advises</a:t>
            </a:r>
            <a:r>
              <a:rPr lang="en-US" dirty="0">
                <a:solidFill>
                  <a:srgbClr val="202729"/>
                </a:solidFill>
                <a:latin typeface="Manrope"/>
              </a:rPr>
              <a:t> → Recommends specific actions: "Adjust your price" or "Restock soon" ⚡ </a:t>
            </a:r>
            <a:r>
              <a:rPr lang="en-US" b="1" dirty="0">
                <a:solidFill>
                  <a:srgbClr val="202729"/>
                </a:solidFill>
                <a:latin typeface="Manrope"/>
              </a:rPr>
              <a:t>Alerts</a:t>
            </a:r>
            <a:r>
              <a:rPr lang="en-US" dirty="0">
                <a:solidFill>
                  <a:srgbClr val="202729"/>
                </a:solidFill>
                <a:latin typeface="Manrope"/>
              </a:rPr>
              <a:t> </a:t>
            </a:r>
            <a:r>
              <a:rPr lang="en-US" b="1" dirty="0">
                <a:solidFill>
                  <a:srgbClr val="202729"/>
                </a:solidFill>
                <a:latin typeface="Manrope"/>
              </a:rPr>
              <a:t>→</a:t>
            </a:r>
            <a:r>
              <a:rPr lang="en-US" dirty="0">
                <a:solidFill>
                  <a:srgbClr val="202729"/>
                </a:solidFill>
                <a:latin typeface="Manrope"/>
              </a:rPr>
              <a:t> Notifies you instantly when competitors move or margins drop</a:t>
            </a:r>
          </a:p>
          <a:p>
            <a:endParaRPr lang="en-US" dirty="0">
              <a:solidFill>
                <a:srgbClr val="202729"/>
              </a:solidFill>
              <a:latin typeface="Manrope"/>
            </a:endParaRPr>
          </a:p>
          <a:p>
            <a:r>
              <a:rPr lang="en-US" dirty="0">
                <a:solidFill>
                  <a:srgbClr val="202729"/>
                </a:solidFill>
                <a:latin typeface="Manrope"/>
              </a:rPr>
              <a:t>In </a:t>
            </a:r>
            <a:r>
              <a:rPr lang="en-US" b="1" dirty="0">
                <a:solidFill>
                  <a:srgbClr val="202729"/>
                </a:solidFill>
                <a:latin typeface="Manrope"/>
              </a:rPr>
              <a:t>simple terms</a:t>
            </a:r>
            <a:r>
              <a:rPr lang="en-US" dirty="0">
                <a:solidFill>
                  <a:srgbClr val="202729"/>
                </a:solidFill>
                <a:latin typeface="Manrope"/>
              </a:rPr>
              <a:t>: ShelfIQ turns market data into </a:t>
            </a:r>
            <a:r>
              <a:rPr lang="en-US" b="1" dirty="0">
                <a:solidFill>
                  <a:srgbClr val="202729"/>
                </a:solidFill>
                <a:latin typeface="Manrope"/>
              </a:rPr>
              <a:t>decisions you can act on automatically</a:t>
            </a:r>
            <a:r>
              <a:rPr lang="en-US" dirty="0">
                <a:solidFill>
                  <a:srgbClr val="202729"/>
                </a:solidFill>
                <a:latin typeface="Manrope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8514248" cy="405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500" b="1" dirty="0">
                <a:solidFill>
                  <a:srgbClr val="202729"/>
                </a:solidFill>
                <a:latin typeface="Manrope"/>
              </a:rPr>
              <a:t>What Makes ShelfIQ Different?</a:t>
            </a:r>
          </a:p>
          <a:p>
            <a:endParaRPr lang="en-US" sz="1200" b="1" dirty="0">
              <a:solidFill>
                <a:srgbClr val="202729"/>
              </a:solidFill>
              <a:latin typeface="Manrope"/>
            </a:endParaRPr>
          </a:p>
          <a:p>
            <a:r>
              <a:rPr lang="en-US" sz="1200" b="1" dirty="0">
                <a:solidFill>
                  <a:srgbClr val="202729"/>
                </a:solidFill>
                <a:latin typeface="Manrope"/>
              </a:rPr>
              <a:t>Meet Rajesh</a:t>
            </a:r>
          </a:p>
          <a:p>
            <a:r>
              <a:rPr lang="en-US" sz="1200" dirty="0">
                <a:solidFill>
                  <a:srgbClr val="202729"/>
                </a:solidFill>
                <a:latin typeface="Manrope"/>
              </a:rPr>
              <a:t>Small seller | Flipkart &amp; Amazon | Home Appliances | Pune</a:t>
            </a:r>
          </a:p>
          <a:p>
            <a:br>
              <a:rPr lang="en-US" sz="1200" b="1" dirty="0">
                <a:solidFill>
                  <a:srgbClr val="202729"/>
                </a:solidFill>
                <a:latin typeface="Manrope"/>
              </a:rPr>
            </a:br>
            <a:r>
              <a:rPr lang="en-US" sz="1200" b="1" dirty="0">
                <a:solidFill>
                  <a:srgbClr val="202729"/>
                </a:solidFill>
                <a:latin typeface="Manrope"/>
              </a:rPr>
              <a:t>❌ Before ShelfIQ: Constant Fire-Fighting</a:t>
            </a:r>
          </a:p>
          <a:p>
            <a:endParaRPr lang="en-US" sz="1200" b="1" dirty="0">
              <a:solidFill>
                <a:srgbClr val="202729"/>
              </a:solidFill>
              <a:latin typeface="Manrope"/>
            </a:endParaRPr>
          </a:p>
          <a:p>
            <a:r>
              <a:rPr lang="en-US" sz="1200" b="1" dirty="0">
                <a:solidFill>
                  <a:srgbClr val="202729"/>
                </a:solidFill>
                <a:latin typeface="Manrope"/>
              </a:rPr>
              <a:t>Morning: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Manually checks competitor prices for hours </a:t>
            </a:r>
            <a:r>
              <a:rPr lang="en-US" sz="1200" b="1" dirty="0">
                <a:solidFill>
                  <a:srgbClr val="202729"/>
                </a:solidFill>
                <a:latin typeface="Manrope"/>
              </a:rPr>
              <a:t>Afternoon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: Misses competitor price drop → Loses sales </a:t>
            </a:r>
            <a:r>
              <a:rPr lang="en-US" sz="1200" b="1" dirty="0">
                <a:solidFill>
                  <a:srgbClr val="202729"/>
                </a:solidFill>
                <a:latin typeface="Manrope"/>
              </a:rPr>
              <a:t>Evening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: Guesses inventory for Diwali → Wrong stock </a:t>
            </a:r>
            <a:r>
              <a:rPr lang="en-US" sz="1200" b="1" dirty="0">
                <a:solidFill>
                  <a:srgbClr val="202729"/>
                </a:solidFill>
                <a:latin typeface="Manrope"/>
              </a:rPr>
              <a:t>Night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: Discovers selling at loss</a:t>
            </a:r>
          </a:p>
          <a:p>
            <a:r>
              <a:rPr lang="en-US" sz="1200" b="1" dirty="0">
                <a:solidFill>
                  <a:srgbClr val="202729"/>
                </a:solidFill>
                <a:latin typeface="Manrope"/>
              </a:rPr>
              <a:t>Result: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Stressed, reactive, losing money</a:t>
            </a:r>
          </a:p>
          <a:p>
            <a:br>
              <a:rPr lang="en-US" sz="1200" b="1" dirty="0">
                <a:solidFill>
                  <a:srgbClr val="202729"/>
                </a:solidFill>
                <a:latin typeface="Manrope"/>
              </a:rPr>
            </a:br>
            <a:br>
              <a:rPr lang="en-US" sz="1200" b="1" dirty="0">
                <a:solidFill>
                  <a:srgbClr val="202729"/>
                </a:solidFill>
                <a:latin typeface="Manrope"/>
              </a:rPr>
            </a:br>
            <a:r>
              <a:rPr lang="en-US" sz="1200" b="1" dirty="0">
                <a:solidFill>
                  <a:srgbClr val="202729"/>
                </a:solidFill>
                <a:latin typeface="Manrope"/>
              </a:rPr>
              <a:t>✅ After ShelfIQ: Proactive &amp; Growing</a:t>
            </a:r>
          </a:p>
          <a:p>
            <a:endParaRPr lang="en-US" sz="1200" b="1" dirty="0">
              <a:solidFill>
                <a:srgbClr val="202729"/>
              </a:solidFill>
              <a:latin typeface="Manrope"/>
            </a:endParaRPr>
          </a:p>
          <a:p>
            <a:r>
              <a:rPr lang="en-US" sz="1200" b="1" dirty="0">
                <a:solidFill>
                  <a:srgbClr val="202729"/>
                </a:solidFill>
                <a:latin typeface="Manrope"/>
              </a:rPr>
              <a:t>Morning: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AI alert → Applies recommendation instantly </a:t>
            </a:r>
            <a:r>
              <a:rPr lang="en-US" sz="1200" b="1" dirty="0">
                <a:solidFill>
                  <a:srgbClr val="202729"/>
                </a:solidFill>
                <a:latin typeface="Manrope"/>
              </a:rPr>
              <a:t>Afternoon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: Demand spike predicted → Restocks confidently</a:t>
            </a:r>
            <a:r>
              <a:rPr lang="en-US" sz="1200" b="1" dirty="0">
                <a:solidFill>
                  <a:srgbClr val="202729"/>
                </a:solidFill>
                <a:latin typeface="Manrope"/>
              </a:rPr>
              <a:t> Before Diwali: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Accurate forecast → Perfect inventory </a:t>
            </a:r>
            <a:r>
              <a:rPr lang="en-US" sz="1200" b="1" dirty="0">
                <a:solidFill>
                  <a:srgbClr val="202729"/>
                </a:solidFill>
                <a:latin typeface="Manrope"/>
              </a:rPr>
              <a:t>Continuous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: Margins protected automatically</a:t>
            </a:r>
          </a:p>
          <a:p>
            <a:r>
              <a:rPr lang="en-US" sz="1200" b="1" dirty="0">
                <a:solidFill>
                  <a:srgbClr val="202729"/>
                </a:solidFill>
                <a:latin typeface="Manrope"/>
              </a:rPr>
              <a:t>Result: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Calm, proactive, profitable</a:t>
            </a:r>
          </a:p>
          <a:p>
            <a:br>
              <a:rPr lang="en-US" sz="1200" b="1" dirty="0">
                <a:solidFill>
                  <a:srgbClr val="202729"/>
                </a:solidFill>
                <a:latin typeface="Manrope"/>
              </a:rPr>
            </a:br>
            <a:endParaRPr lang="en-US" sz="1200" b="1" dirty="0">
              <a:solidFill>
                <a:srgbClr val="202729"/>
              </a:solidFill>
              <a:latin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446872" y="1490472"/>
            <a:ext cx="8285648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r>
              <a:rPr lang="en-US" b="1" dirty="0">
                <a:solidFill>
                  <a:srgbClr val="202729"/>
                </a:solidFill>
                <a:latin typeface="Manrope"/>
              </a:rPr>
              <a:t>Conversational Commerce Intelligence </a:t>
            </a:r>
          </a:p>
          <a:p>
            <a:r>
              <a:rPr lang="en-US" sz="1000" dirty="0">
                <a:solidFill>
                  <a:srgbClr val="202729"/>
                </a:solidFill>
                <a:latin typeface="Manrope"/>
              </a:rPr>
              <a:t>(Not Just Analytics)</a:t>
            </a:r>
          </a:p>
          <a:p>
            <a:endParaRPr lang="en-US" sz="1200" dirty="0">
              <a:solidFill>
                <a:srgbClr val="202729"/>
              </a:solidFill>
              <a:latin typeface="Manrope"/>
            </a:endParaRPr>
          </a:p>
          <a:p>
            <a:r>
              <a:rPr lang="en-US" sz="1200" dirty="0">
                <a:solidFill>
                  <a:srgbClr val="202729"/>
                </a:solidFill>
                <a:latin typeface="Manrope"/>
              </a:rPr>
              <a:t>Others: Show data → You decide</a:t>
            </a:r>
          </a:p>
          <a:p>
            <a:r>
              <a:rPr lang="en-US" sz="1200" dirty="0">
                <a:solidFill>
                  <a:srgbClr val="202729"/>
                </a:solidFill>
                <a:latin typeface="Manrope"/>
              </a:rPr>
              <a:t>ShelfIQ: Recommend action → You execute</a:t>
            </a:r>
          </a:p>
          <a:p>
            <a:endParaRPr lang="en-US" sz="1200" dirty="0">
              <a:solidFill>
                <a:srgbClr val="202729"/>
              </a:solidFill>
              <a:latin typeface="Manrope"/>
            </a:endParaRPr>
          </a:p>
          <a:p>
            <a:r>
              <a:rPr lang="en-US" sz="1200" dirty="0">
                <a:solidFill>
                  <a:srgbClr val="202729"/>
                </a:solidFill>
                <a:latin typeface="Manrope"/>
              </a:rPr>
              <a:t>Most sellers aren't data analysts. They need decisions, not dashboards.</a:t>
            </a:r>
            <a:endParaRPr lang="en-US" dirty="0"/>
          </a:p>
          <a:p>
            <a:endParaRPr lang="en-US" sz="1200" dirty="0">
              <a:solidFill>
                <a:srgbClr val="202729"/>
              </a:solidFill>
              <a:latin typeface="Manrope"/>
            </a:endParaRPr>
          </a:p>
          <a:p>
            <a:endParaRPr lang="en-US" sz="1200" dirty="0">
              <a:solidFill>
                <a:srgbClr val="202729"/>
              </a:solidFill>
              <a:latin typeface="Manrope"/>
            </a:endParaRPr>
          </a:p>
          <a:p>
            <a:endParaRPr lang="en-US" sz="1200" dirty="0">
              <a:solidFill>
                <a:srgbClr val="202729"/>
              </a:solidFill>
              <a:latin typeface="Manrope"/>
            </a:endParaRPr>
          </a:p>
          <a:p>
            <a:endParaRPr lang="en-US" sz="1200" dirty="0">
              <a:solidFill>
                <a:srgbClr val="202729"/>
              </a:solidFill>
              <a:latin typeface="Manrope"/>
            </a:endParaRPr>
          </a:p>
          <a:p>
            <a:r>
              <a:rPr lang="en-US" b="1" dirty="0">
                <a:solidFill>
                  <a:srgbClr val="202729"/>
                </a:solidFill>
                <a:latin typeface="Manrope"/>
              </a:rPr>
              <a:t>India-First AI Models </a:t>
            </a:r>
            <a:r>
              <a:rPr lang="en-US" sz="1000" dirty="0">
                <a:solidFill>
                  <a:srgbClr val="202729"/>
                </a:solidFill>
                <a:latin typeface="Manrope"/>
              </a:rPr>
              <a:t>(Not Just Localization)</a:t>
            </a:r>
          </a:p>
          <a:p>
            <a:r>
              <a:rPr lang="en-US" sz="1200" dirty="0">
                <a:solidFill>
                  <a:srgbClr val="202729"/>
                </a:solidFill>
                <a:latin typeface="Manrope"/>
              </a:rPr>
              <a:t>Trained on Indian festivals, regional pricing, marketplace behaviors </a:t>
            </a:r>
            <a:r>
              <a:rPr lang="en-US" sz="1200" i="1" dirty="0">
                <a:solidFill>
                  <a:srgbClr val="202729"/>
                </a:solidFill>
                <a:latin typeface="Manrope"/>
              </a:rPr>
              <a:t>( "Diwali in 2 weeks. Ethnic wear demand will spike 8x.”)</a:t>
            </a:r>
          </a:p>
          <a:p>
            <a:endParaRPr lang="en-US" sz="1200" i="1" dirty="0">
              <a:solidFill>
                <a:srgbClr val="202729"/>
              </a:solidFill>
              <a:latin typeface="Manrope"/>
            </a:endParaRPr>
          </a:p>
          <a:p>
            <a:endParaRPr lang="en-US" sz="1200" i="1" dirty="0">
              <a:solidFill>
                <a:srgbClr val="202729"/>
              </a:solidFill>
              <a:latin typeface="Manrope"/>
            </a:endParaRPr>
          </a:p>
          <a:p>
            <a:endParaRPr lang="en-US" sz="1200" i="1" dirty="0">
              <a:solidFill>
                <a:srgbClr val="202729"/>
              </a:solidFill>
              <a:latin typeface="Manrope"/>
            </a:endParaRPr>
          </a:p>
          <a:p>
            <a:endParaRPr lang="en-US" dirty="0">
              <a:solidFill>
                <a:srgbClr val="202729"/>
              </a:solidFill>
              <a:latin typeface="Manrope"/>
            </a:endParaRPr>
          </a:p>
          <a:p>
            <a:endParaRPr lang="en-US" b="1" dirty="0">
              <a:solidFill>
                <a:srgbClr val="202729"/>
              </a:solidFill>
              <a:latin typeface="Manrope"/>
            </a:endParaRPr>
          </a:p>
          <a:p>
            <a:r>
              <a:rPr lang="en-US" b="1" dirty="0">
                <a:solidFill>
                  <a:srgbClr val="202729"/>
                </a:solidFill>
                <a:latin typeface="Manrope"/>
              </a:rPr>
              <a:t>Action-First Architecture </a:t>
            </a:r>
            <a:r>
              <a:rPr lang="en-US" sz="1000" dirty="0">
                <a:solidFill>
                  <a:srgbClr val="202729"/>
                </a:solidFill>
                <a:latin typeface="Manrope"/>
              </a:rPr>
              <a:t>(Not Insight-First)</a:t>
            </a:r>
          </a:p>
          <a:p>
            <a:r>
              <a:rPr lang="en-US" sz="1200" dirty="0">
                <a:solidFill>
                  <a:srgbClr val="202729"/>
                </a:solidFill>
                <a:latin typeface="Manrope"/>
              </a:rPr>
              <a:t>Every insight = Recommended action + One-click execute</a:t>
            </a:r>
          </a:p>
          <a:p>
            <a:endParaRPr lang="en-US" sz="1200" dirty="0">
              <a:solidFill>
                <a:srgbClr val="202729"/>
              </a:solidFill>
              <a:latin typeface="Manrope"/>
            </a:endParaRPr>
          </a:p>
          <a:p>
            <a:r>
              <a:rPr lang="en-US" sz="1200" dirty="0">
                <a:solidFill>
                  <a:srgbClr val="202729"/>
                </a:solidFill>
                <a:latin typeface="Manrope"/>
              </a:rPr>
              <a:t>(Traditional: "Your listing has low visibility"</a:t>
            </a:r>
          </a:p>
          <a:p>
            <a:r>
              <a:rPr lang="en-US" sz="1200" dirty="0">
                <a:solidFill>
                  <a:srgbClr val="202729"/>
                </a:solidFill>
                <a:latin typeface="Manrope"/>
              </a:rPr>
              <a:t>ShelfIQ: "Add these 5 keywords to your title. [Apply Now] Expected: +20% visibility” )</a:t>
            </a:r>
          </a:p>
          <a:p>
            <a:endParaRPr lang="en-US" b="1" dirty="0">
              <a:solidFill>
                <a:srgbClr val="202729"/>
              </a:solidFill>
              <a:latin typeface="Manrope"/>
            </a:endParaRPr>
          </a:p>
          <a:p>
            <a:endParaRPr lang="en-US" dirty="0">
              <a:solidFill>
                <a:srgbClr val="202729"/>
              </a:solidFill>
              <a:latin typeface="Manrope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DE64B-04A2-8FC5-935E-0D9CF0BC6C48}"/>
              </a:ext>
            </a:extLst>
          </p:cNvPr>
          <p:cNvSpPr txBox="1"/>
          <p:nvPr/>
        </p:nvSpPr>
        <p:spPr>
          <a:xfrm>
            <a:off x="1618488" y="958666"/>
            <a:ext cx="6382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🔍 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COLLECT → 🧠 ANALYZE → 💡 RECOMMEND → ⚡ EXECUTE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" name="Picture 9" descr="A diagram of a process&#10;&#10;AI-generated content may be incorrect.">
            <a:extLst>
              <a:ext uri="{FF2B5EF4-FFF2-40B4-BE49-F238E27FC236}">
                <a16:creationId xmlns:a16="http://schemas.microsoft.com/office/drawing/2014/main" id="{7E51117A-E75B-4145-7E38-1C88D42C1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00" y="1217422"/>
            <a:ext cx="6273800" cy="340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 descr="A diagram of a machine&#10;&#10;AI-generated content may be incorrect.">
            <a:extLst>
              <a:ext uri="{FF2B5EF4-FFF2-40B4-BE49-F238E27FC236}">
                <a16:creationId xmlns:a16="http://schemas.microsoft.com/office/drawing/2014/main" id="{4D58286A-09DE-3270-BFE8-89C84D67D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335736"/>
            <a:ext cx="6469126" cy="33626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" name="Picture 13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4A91CDC0-3735-5515-F042-DD36E69E8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05" y="1395876"/>
            <a:ext cx="7752397" cy="3442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r>
              <a:rPr lang="en-US" sz="1300" b="1" dirty="0">
                <a:solidFill>
                  <a:srgbClr val="202729"/>
                </a:solidFill>
                <a:latin typeface="Manrope"/>
              </a:rPr>
              <a:t>Frontend</a:t>
            </a:r>
            <a:r>
              <a:rPr lang="en-US" sz="1300" b="1" dirty="0"/>
              <a:t>:</a:t>
            </a:r>
            <a:r>
              <a:rPr lang="en-US" sz="1300" dirty="0"/>
              <a:t>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React 18 + TypeScript | Material-UI | Recharts | Socket.io</a:t>
            </a:r>
          </a:p>
          <a:p>
            <a:endParaRPr lang="en-US" sz="1300" b="1" dirty="0">
              <a:solidFill>
                <a:srgbClr val="202729"/>
              </a:solidFill>
              <a:latin typeface="Manrope"/>
            </a:endParaRPr>
          </a:p>
          <a:p>
            <a:r>
              <a:rPr lang="en-US" sz="1300" b="1" dirty="0">
                <a:solidFill>
                  <a:srgbClr val="202729"/>
                </a:solidFill>
                <a:latin typeface="Manrope"/>
              </a:rPr>
              <a:t>Backend: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FastAPI (Python) | Node.js | GraphQL (Apollo) | Kong Gateway</a:t>
            </a:r>
          </a:p>
          <a:p>
            <a:endParaRPr lang="en-US" sz="1300" b="1" dirty="0">
              <a:solidFill>
                <a:srgbClr val="202729"/>
              </a:solidFill>
              <a:latin typeface="Manrope"/>
            </a:endParaRPr>
          </a:p>
          <a:p>
            <a:r>
              <a:rPr lang="en-US" sz="1300" b="1" dirty="0">
                <a:solidFill>
                  <a:srgbClr val="202729"/>
                </a:solidFill>
                <a:latin typeface="Manrope"/>
              </a:rPr>
              <a:t>AI/ML: </a:t>
            </a:r>
            <a:r>
              <a:rPr lang="en-US" sz="1200" b="1" dirty="0">
                <a:solidFill>
                  <a:srgbClr val="202729"/>
                </a:solidFill>
                <a:latin typeface="Manrope"/>
              </a:rPr>
              <a:t>• 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Forecasting: Prophet + LightGBM + LSTM • Pricing: Bayesian Regression + Optimization • NLP: DistilBERT | GPT-4 (Copilot) • Serving: TensorFlow Serving | MLflow</a:t>
            </a:r>
          </a:p>
          <a:p>
            <a:endParaRPr lang="en-US" sz="1300" b="1" dirty="0">
              <a:solidFill>
                <a:srgbClr val="202729"/>
              </a:solidFill>
              <a:latin typeface="Manrope"/>
            </a:endParaRPr>
          </a:p>
          <a:p>
            <a:r>
              <a:rPr lang="en-US" sz="1300" b="1" dirty="0">
                <a:solidFill>
                  <a:srgbClr val="202729"/>
                </a:solidFill>
                <a:latin typeface="Manrope"/>
              </a:rPr>
              <a:t>Data: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Kafka | Flink | Airflow | Feast (Feature Store) | S3 Data Lake</a:t>
            </a:r>
          </a:p>
          <a:p>
            <a:endParaRPr lang="en-US" sz="1300" b="1" dirty="0">
              <a:solidFill>
                <a:srgbClr val="202729"/>
              </a:solidFill>
              <a:latin typeface="Manrope"/>
            </a:endParaRPr>
          </a:p>
          <a:p>
            <a:r>
              <a:rPr lang="en-US" sz="1300" b="1" dirty="0">
                <a:solidFill>
                  <a:srgbClr val="202729"/>
                </a:solidFill>
                <a:latin typeface="Manrope"/>
              </a:rPr>
              <a:t>AWS Services: </a:t>
            </a:r>
            <a:r>
              <a:rPr lang="en-US" sz="1200" b="1" dirty="0">
                <a:solidFill>
                  <a:srgbClr val="202729"/>
                </a:solidFill>
                <a:latin typeface="Manrope"/>
              </a:rPr>
              <a:t>• 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Compute: EKS (Kubernetes) • Database: RDS PostgreSQL | ElasticCache Redis • ML: SageMaker | Bedrock • Storage: S3 | Monitoring: CloudWatch</a:t>
            </a:r>
          </a:p>
          <a:p>
            <a:endParaRPr lang="en-US" sz="1300" b="1" dirty="0">
              <a:solidFill>
                <a:srgbClr val="202729"/>
              </a:solidFill>
              <a:latin typeface="Manrope"/>
            </a:endParaRPr>
          </a:p>
          <a:p>
            <a:r>
              <a:rPr lang="en-US" sz="1300" b="1" dirty="0">
                <a:solidFill>
                  <a:srgbClr val="202729"/>
                </a:solidFill>
                <a:latin typeface="Manrope"/>
              </a:rPr>
              <a:t>DevOps: </a:t>
            </a:r>
            <a:r>
              <a:rPr lang="en-US" sz="1200" dirty="0">
                <a:solidFill>
                  <a:srgbClr val="202729"/>
                </a:solidFill>
                <a:latin typeface="Manrope"/>
              </a:rPr>
              <a:t>Docker | Terraform | GitHub Actions | ArgoCD | Prometheus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BBDAC-BA1F-7327-65FA-4D2DB54C1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488948"/>
            <a:ext cx="8376362" cy="2918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8274516" cy="393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r>
              <a:rPr lang="en-US" sz="1900" b="1" dirty="0">
                <a:solidFill>
                  <a:srgbClr val="202729"/>
                </a:solidFill>
                <a:latin typeface="Manrope"/>
              </a:rPr>
              <a:t>AWS Services Used</a:t>
            </a:r>
          </a:p>
          <a:p>
            <a:endParaRPr lang="en-US" dirty="0"/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Amazon SageMaker for ML training and deployment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Amazon Bedrock for conversational AI copilot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Amazon EKS for container orchestration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Amazon RDS and ElasticCache for data storage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Amazon S3 and AWS Glue for data lake and ETL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Amazon CloudWatch and AWS X-Ray for monitoring and observability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900" b="1" dirty="0">
                <a:solidFill>
                  <a:srgbClr val="202729"/>
                </a:solidFill>
                <a:latin typeface="Manrope"/>
              </a:rPr>
              <a:t>Bharat-Specific Features</a:t>
            </a:r>
          </a:p>
          <a:p>
            <a:endParaRPr lang="en-US" sz="1900" b="1" dirty="0">
              <a:solidFill>
                <a:srgbClr val="202729"/>
              </a:solidFill>
              <a:latin typeface="Manrope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Multi-language support including Hindi, Tamil, Telugu, Bengali, and Marathi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Festival demand intelligence for events like Diwali, Holi, and Eid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Support for Indian marketplaces such as Flipkart, Meesho, and Amazon India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Designed for Tier 2 and Tier 3 sellers with low-bandwidth optimized UI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GST-aware pricing and compliance support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900" b="1" dirty="0">
                <a:solidFill>
                  <a:srgbClr val="202729"/>
                </a:solidFill>
                <a:latin typeface="Manrope"/>
              </a:rPr>
              <a:t>Social Impact</a:t>
            </a:r>
          </a:p>
          <a:p>
            <a:endParaRPr lang="en-US" sz="1900" b="1" dirty="0">
              <a:solidFill>
                <a:srgbClr val="202729"/>
              </a:solidFill>
              <a:latin typeface="Manrope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Empowering MSMEs to make better pricing and inventory decisions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Improving revenue stability for small sellers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Supporting growth of new e-commerce entrepreneurs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900" b="1" dirty="0">
                <a:solidFill>
                  <a:srgbClr val="202729"/>
                </a:solidFill>
                <a:latin typeface="Manrope"/>
              </a:rPr>
              <a:t>Innovation</a:t>
            </a:r>
          </a:p>
          <a:p>
            <a:endParaRPr lang="en-US" sz="1900" b="1" dirty="0">
              <a:solidFill>
                <a:srgbClr val="202729"/>
              </a:solidFill>
              <a:latin typeface="Manrope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1600" dirty="0">
                <a:solidFill>
                  <a:srgbClr val="202729"/>
                </a:solidFill>
                <a:latin typeface="Manrope"/>
              </a:rPr>
              <a:t>Conversational AI copilot built specifically for Indian e-commerce sellers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720</Words>
  <Application>Microsoft Macintosh PowerPoint</Application>
  <PresentationFormat>On-screen Show (16:9)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Manrope SemiBold</vt:lpstr>
      <vt:lpstr>Wingdings</vt:lpstr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Jeejo Joy</cp:lastModifiedBy>
  <cp:revision>19</cp:revision>
  <dcterms:modified xsi:type="dcterms:W3CDTF">2026-02-15T12:27:51Z</dcterms:modified>
</cp:coreProperties>
</file>