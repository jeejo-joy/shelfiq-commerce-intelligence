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67"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anrope" pitchFamily="2" charset="0"/>
      <p:regular r:id=""/>
      <p:bold r:id=""/>
    </p:embeddedFont>
    <p:embeddedFont>
      <p:font typeface="Manrope SemiBold" pitchFamily="2" charset="0"/>
      <p:regular r:id=""/>
      <p:bold r:id=""/>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39" d="100"/>
          <a:sy n="139" d="100"/>
        </p:scale>
        <p:origin x="176" y="5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OG404</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Autofit/>
          </a:bodyPr>
          <a:lstStyle/>
          <a:p>
            <a:pPr>
              <a:lnSpc>
                <a:spcPct val="70000"/>
              </a:lnSpc>
            </a:pPr>
            <a:r>
              <a:rPr lang="en-US" sz="1200" dirty="0"/>
              <a:t>Retail and marketplace teams struggle to decide the right price and stock levels because competitor prices and customer demand change frequently. Current tools show data but do not suggest what action to take.</a:t>
            </a:r>
          </a:p>
          <a:p>
            <a:pPr marL="0" lvl="0" indent="0" algn="l" rtl="0">
              <a:lnSpc>
                <a:spcPct val="70000"/>
              </a:lnSpc>
              <a:spcBef>
                <a:spcPts val="0"/>
              </a:spcBef>
              <a:spcAft>
                <a:spcPts val="0"/>
              </a:spcAft>
              <a:buNone/>
            </a:pPr>
            <a:endParaRPr lang="en-US" sz="1600" dirty="0">
              <a:solidFill>
                <a:srgbClr val="202729"/>
              </a:solidFill>
              <a:latin typeface="Manrope SemiBold"/>
              <a:ea typeface="Manrope SemiBold"/>
              <a:cs typeface="Manrope SemiBold"/>
              <a:sym typeface="Manrope SemiBold"/>
            </a:endParaRPr>
          </a:p>
          <a:p>
            <a:pPr marL="0" lvl="0" indent="0" algn="l" rtl="0">
              <a:lnSpc>
                <a:spcPct val="70000"/>
              </a:lnSpc>
              <a:spcBef>
                <a:spcPts val="0"/>
              </a:spcBef>
              <a:spcAft>
                <a:spcPts val="0"/>
              </a:spcAft>
              <a:buNone/>
            </a:pP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Jeejo Joy</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63" name="Google Shape;63;p14"/>
          <p:cNvSpPr txBox="1"/>
          <p:nvPr/>
        </p:nvSpPr>
        <p:spPr>
          <a:xfrm>
            <a:off x="365760" y="740664"/>
            <a:ext cx="8366760" cy="4023359"/>
          </a:xfrm>
          <a:prstGeom prst="rect">
            <a:avLst/>
          </a:prstGeom>
          <a:noFill/>
          <a:ln>
            <a:noFill/>
          </a:ln>
        </p:spPr>
        <p:txBody>
          <a:bodyPr spcFirstLastPara="1" wrap="square" lIns="91425" tIns="91425" rIns="91425" bIns="91425" anchor="t" anchorCtr="0">
            <a:normAutofit/>
          </a:bodyPr>
          <a:lstStyle/>
          <a:p>
            <a:r>
              <a:rPr lang="en-US" b="1" dirty="0"/>
              <a:t>ShelfIQ is a decision assistant for retail teams.</a:t>
            </a:r>
          </a:p>
          <a:p>
            <a:endParaRPr lang="en-US" dirty="0"/>
          </a:p>
          <a:p>
            <a:r>
              <a:rPr lang="en-US" dirty="0"/>
              <a:t>It monitors competitor prices, sales trends, and demand signals.</a:t>
            </a:r>
          </a:p>
          <a:p>
            <a:endParaRPr lang="en-US" dirty="0"/>
          </a:p>
          <a:p>
            <a:r>
              <a:rPr lang="en-US" dirty="0"/>
              <a:t>It suggests:</a:t>
            </a:r>
          </a:p>
          <a:p>
            <a:r>
              <a:rPr lang="en-US" dirty="0"/>
              <a:t>• when to change price</a:t>
            </a:r>
          </a:p>
          <a:p>
            <a:r>
              <a:rPr lang="en-US" dirty="0"/>
              <a:t>• how much to change</a:t>
            </a:r>
          </a:p>
          <a:p>
            <a:r>
              <a:rPr lang="en-US" dirty="0"/>
              <a:t>• which products need restocking</a:t>
            </a:r>
          </a:p>
          <a:p>
            <a:r>
              <a:rPr lang="en-US" dirty="0"/>
              <a:t>• where margin risk exists</a:t>
            </a:r>
          </a:p>
          <a:p>
            <a:endParaRPr lang="en-US" dirty="0"/>
          </a:p>
          <a:p>
            <a:r>
              <a:rPr lang="en-US" dirty="0"/>
              <a:t>So, teams can act faster and avoid revenue loss.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69" name="Google Shape;69;p15"/>
          <p:cNvSpPr txBox="1"/>
          <p:nvPr/>
        </p:nvSpPr>
        <p:spPr>
          <a:xfrm>
            <a:off x="311700" y="863550"/>
            <a:ext cx="8311092" cy="3745026"/>
          </a:xfrm>
          <a:prstGeom prst="rect">
            <a:avLst/>
          </a:prstGeom>
          <a:noFill/>
          <a:ln>
            <a:noFill/>
          </a:ln>
        </p:spPr>
        <p:txBody>
          <a:bodyPr spcFirstLastPara="1" wrap="square" lIns="91425" tIns="91425" rIns="91425" bIns="91425" anchor="t" anchorCtr="0">
            <a:normAutofit/>
          </a:bodyPr>
          <a:lstStyle/>
          <a:p>
            <a:r>
              <a:rPr lang="en-US" b="1" dirty="0"/>
              <a:t>Most tools today:</a:t>
            </a:r>
          </a:p>
          <a:p>
            <a:r>
              <a:rPr lang="en-US" dirty="0"/>
              <a:t>• show competitor prices</a:t>
            </a:r>
          </a:p>
          <a:p>
            <a:r>
              <a:rPr lang="en-US" dirty="0"/>
              <a:t>• show dashboards</a:t>
            </a:r>
          </a:p>
          <a:p>
            <a:r>
              <a:rPr lang="en-US" dirty="0"/>
              <a:t>• show reports</a:t>
            </a:r>
          </a:p>
          <a:p>
            <a:endParaRPr lang="en-US" dirty="0"/>
          </a:p>
          <a:p>
            <a:r>
              <a:rPr lang="en-US" b="1" dirty="0"/>
              <a:t>ShelfIQ instead:</a:t>
            </a:r>
          </a:p>
          <a:p>
            <a:r>
              <a:rPr lang="en-US" dirty="0"/>
              <a:t>• predicts demand change</a:t>
            </a:r>
          </a:p>
          <a:p>
            <a:r>
              <a:rPr lang="en-US" dirty="0"/>
              <a:t>• estimates price impact</a:t>
            </a:r>
          </a:p>
          <a:p>
            <a:r>
              <a:rPr lang="en-US" dirty="0"/>
              <a:t>• suggests specific actions</a:t>
            </a:r>
          </a:p>
          <a:p>
            <a:endParaRPr lang="en-US" dirty="0"/>
          </a:p>
          <a:p>
            <a:r>
              <a:rPr lang="en-US" dirty="0"/>
              <a:t>Example:</a:t>
            </a:r>
          </a:p>
          <a:p>
            <a:r>
              <a:rPr lang="en-US" dirty="0"/>
              <a:t>“Competitor reduced price by 5%. Reduce yours by 3% to retain sales while keeping margin.”</a:t>
            </a:r>
          </a:p>
          <a:p>
            <a:endParaRPr lang="en-US" dirty="0"/>
          </a:p>
          <a:p>
            <a:r>
              <a:rPr lang="en-US" b="1" dirty="0"/>
              <a:t>USP:</a:t>
            </a:r>
          </a:p>
          <a:p>
            <a:r>
              <a:rPr lang="en-US" dirty="0"/>
              <a:t>One system combining competitor tracking, demand prediction, action recommendation.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5" name="Google Shape;69;p15">
            <a:extLst>
              <a:ext uri="{FF2B5EF4-FFF2-40B4-BE49-F238E27FC236}">
                <a16:creationId xmlns:a16="http://schemas.microsoft.com/office/drawing/2014/main" id="{F952B376-9189-8E85-2488-A453045C6590}"/>
              </a:ext>
            </a:extLst>
          </p:cNvPr>
          <p:cNvSpPr txBox="1"/>
          <p:nvPr/>
        </p:nvSpPr>
        <p:spPr>
          <a:xfrm>
            <a:off x="311700" y="863550"/>
            <a:ext cx="8365956" cy="3900474"/>
          </a:xfrm>
          <a:prstGeom prst="rect">
            <a:avLst/>
          </a:prstGeom>
          <a:noFill/>
          <a:ln>
            <a:noFill/>
          </a:ln>
        </p:spPr>
        <p:txBody>
          <a:bodyPr spcFirstLastPara="1" wrap="square" lIns="91425" tIns="91425" rIns="91425" bIns="91425" anchor="t" anchorCtr="0">
            <a:normAutofit/>
          </a:bodyPr>
          <a:lstStyle/>
          <a:p>
            <a:pPr marL="285750" indent="-285750">
              <a:buFont typeface="Arial" panose="020B0604020202020204" pitchFamily="34" charset="0"/>
              <a:buChar char="•"/>
            </a:pPr>
            <a:r>
              <a:rPr lang="en-US" dirty="0"/>
              <a:t>Competitor price tracking</a:t>
            </a:r>
          </a:p>
          <a:p>
            <a:pPr marL="285750" indent="-285750">
              <a:buFont typeface="Arial" panose="020B0604020202020204" pitchFamily="34" charset="0"/>
              <a:buChar char="•"/>
            </a:pPr>
            <a:r>
              <a:rPr lang="en-US" dirty="0"/>
              <a:t>Demand trend detection</a:t>
            </a:r>
          </a:p>
          <a:p>
            <a:pPr marL="285750" indent="-285750">
              <a:buFont typeface="Arial" panose="020B0604020202020204" pitchFamily="34" charset="0"/>
              <a:buChar char="•"/>
            </a:pPr>
            <a:r>
              <a:rPr lang="en-US" dirty="0"/>
              <a:t>Price change recommendation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Stock risk alerts</a:t>
            </a:r>
          </a:p>
          <a:p>
            <a:pPr marL="285750" indent="-285750">
              <a:buFont typeface="Arial" panose="020B0604020202020204" pitchFamily="34" charset="0"/>
              <a:buChar char="•"/>
            </a:pPr>
            <a:r>
              <a:rPr lang="en-US" dirty="0"/>
              <a:t>Margin risk alerts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Seller and product performance insights</a:t>
            </a:r>
          </a:p>
          <a:p>
            <a:pPr marL="285750" indent="-285750">
              <a:buFont typeface="Arial" panose="020B0604020202020204" pitchFamily="34" charset="0"/>
              <a:buChar char="•"/>
            </a:pPr>
            <a:r>
              <a:rPr lang="en-US" dirty="0"/>
              <a:t>Daily action suggestions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81" name="Google Shape;81;p17"/>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 or Use-case diagram</a:t>
            </a: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r>
              <a:rPr lang="en-GB" dirty="0">
                <a:solidFill>
                  <a:srgbClr val="434343"/>
                </a:solidFill>
                <a:latin typeface="Manrope"/>
                <a:ea typeface="Manrope"/>
                <a:cs typeface="Manrope"/>
                <a:sym typeface="Manrope"/>
              </a:rPr>
              <a:t>Add a flow diagram or a use case diagram or an architecture diagram.</a:t>
            </a:r>
            <a:endParaRPr dirty="0">
              <a:solidFill>
                <a:srgbClr val="434343"/>
              </a:solidFill>
              <a:latin typeface="Manrope"/>
              <a:ea typeface="Manrope"/>
              <a:cs typeface="Manrope"/>
              <a:sym typeface="Manrope"/>
            </a:endParaRPr>
          </a:p>
        </p:txBody>
      </p:sp>
      <p:sp>
        <p:nvSpPr>
          <p:cNvPr id="82" name="Rounded Rectangle 81"/>
          <p:cNvSpPr/>
          <p:nvPr/>
        </p:nvSpPr>
        <p:spPr>
          <a:xfrm>
            <a:off x="45720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Market Data</a:t>
            </a:r>
          </a:p>
        </p:txBody>
      </p:sp>
      <p:sp>
        <p:nvSpPr>
          <p:cNvPr id="83" name="Rounded Rectangle 82"/>
          <p:cNvSpPr/>
          <p:nvPr/>
        </p:nvSpPr>
        <p:spPr>
          <a:xfrm>
            <a:off x="192024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Ingestion</a:t>
            </a:r>
          </a:p>
        </p:txBody>
      </p:sp>
      <p:sp>
        <p:nvSpPr>
          <p:cNvPr id="84" name="Rounded Rectangle 83"/>
          <p:cNvSpPr/>
          <p:nvPr/>
        </p:nvSpPr>
        <p:spPr>
          <a:xfrm>
            <a:off x="338328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Feature Store</a:t>
            </a:r>
          </a:p>
        </p:txBody>
      </p:sp>
      <p:sp>
        <p:nvSpPr>
          <p:cNvPr id="85" name="Rounded Rectangle 84"/>
          <p:cNvSpPr/>
          <p:nvPr/>
        </p:nvSpPr>
        <p:spPr>
          <a:xfrm>
            <a:off x="484632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AI Models</a:t>
            </a:r>
          </a:p>
        </p:txBody>
      </p:sp>
      <p:sp>
        <p:nvSpPr>
          <p:cNvPr id="86" name="Rounded Rectangle 85"/>
          <p:cNvSpPr/>
          <p:nvPr/>
        </p:nvSpPr>
        <p:spPr>
          <a:xfrm>
            <a:off x="630936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Decision Engine</a:t>
            </a:r>
          </a:p>
        </p:txBody>
      </p:sp>
      <p:sp>
        <p:nvSpPr>
          <p:cNvPr id="87" name="Rounded Rectangle 86"/>
          <p:cNvSpPr/>
          <p:nvPr/>
        </p:nvSpPr>
        <p:spPr>
          <a:xfrm>
            <a:off x="7772400" y="3657600"/>
            <a:ext cx="1280160" cy="640080"/>
          </a:xfrm>
          <a:prstGeom prst="roundRect">
            <a:avLst/>
          </a:prstGeom>
          <a:solidFill>
            <a:srgbClr val="0078D7"/>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Copilot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Wireframes/Mock diagrams of the proposed solution (optional)</a:t>
            </a: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93" name="Google Shape;93;p19"/>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Architecture diagram of the proposed solution:</a:t>
            </a:r>
            <a:endParaRPr>
              <a:solidFill>
                <a:srgbClr val="434343"/>
              </a:solidFill>
              <a:latin typeface="Manrope"/>
              <a:ea typeface="Manrope"/>
              <a:cs typeface="Manrope"/>
              <a:sym typeface="Manrope"/>
            </a:endParaRPr>
          </a:p>
        </p:txBody>
      </p:sp>
      <p:sp>
        <p:nvSpPr>
          <p:cNvPr id="94" name="Rectangle 93"/>
          <p:cNvSpPr/>
          <p:nvPr/>
        </p:nvSpPr>
        <p:spPr>
          <a:xfrm>
            <a:off x="731520" y="3657600"/>
            <a:ext cx="1371600" cy="731520"/>
          </a:xfrm>
          <a:prstGeom prst="rect">
            <a:avLst/>
          </a:prstGeom>
          <a:solidFill>
            <a:srgbClr val="5000B4"/>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Data Sources</a:t>
            </a:r>
          </a:p>
        </p:txBody>
      </p:sp>
      <p:sp>
        <p:nvSpPr>
          <p:cNvPr id="95" name="Rectangle 94"/>
          <p:cNvSpPr/>
          <p:nvPr/>
        </p:nvSpPr>
        <p:spPr>
          <a:xfrm>
            <a:off x="2377440" y="3657600"/>
            <a:ext cx="1371600" cy="731520"/>
          </a:xfrm>
          <a:prstGeom prst="rect">
            <a:avLst/>
          </a:prstGeom>
          <a:solidFill>
            <a:srgbClr val="5000B4"/>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Ingestion</a:t>
            </a:r>
          </a:p>
        </p:txBody>
      </p:sp>
      <p:sp>
        <p:nvSpPr>
          <p:cNvPr id="96" name="Rectangle 95"/>
          <p:cNvSpPr/>
          <p:nvPr/>
        </p:nvSpPr>
        <p:spPr>
          <a:xfrm>
            <a:off x="4023360" y="3657600"/>
            <a:ext cx="1371600" cy="731520"/>
          </a:xfrm>
          <a:prstGeom prst="rect">
            <a:avLst/>
          </a:prstGeom>
          <a:solidFill>
            <a:srgbClr val="5000B4"/>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AI Models</a:t>
            </a:r>
          </a:p>
        </p:txBody>
      </p:sp>
      <p:sp>
        <p:nvSpPr>
          <p:cNvPr id="97" name="Rectangle 96"/>
          <p:cNvSpPr/>
          <p:nvPr/>
        </p:nvSpPr>
        <p:spPr>
          <a:xfrm>
            <a:off x="5669280" y="3657600"/>
            <a:ext cx="1371600" cy="731520"/>
          </a:xfrm>
          <a:prstGeom prst="rect">
            <a:avLst/>
          </a:prstGeom>
          <a:solidFill>
            <a:srgbClr val="5000B4"/>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API</a:t>
            </a:r>
          </a:p>
        </p:txBody>
      </p:sp>
      <p:sp>
        <p:nvSpPr>
          <p:cNvPr id="98" name="Rectangle 97"/>
          <p:cNvSpPr/>
          <p:nvPr/>
        </p:nvSpPr>
        <p:spPr>
          <a:xfrm>
            <a:off x="7315200" y="3657600"/>
            <a:ext cx="1371600" cy="731520"/>
          </a:xfrm>
          <a:prstGeom prst="rect">
            <a:avLst/>
          </a:prstGeom>
          <a:solidFill>
            <a:srgbClr val="5000B4"/>
          </a:solidFill>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defRPr>
            </a:pPr>
            <a:r>
              <a:t>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99" name="Google Shape;99;p20"/>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285750" indent="-285750">
              <a:buFont typeface="Arial" panose="020B0604020202020204" pitchFamily="34" charset="0"/>
              <a:buChar char="•"/>
            </a:pPr>
            <a:r>
              <a:rPr dirty="0"/>
              <a:t>Python ML models</a:t>
            </a:r>
            <a:endParaRPr lang="en-US" dirty="0"/>
          </a:p>
          <a:p>
            <a:pPr marL="285750" indent="-285750">
              <a:buFont typeface="Arial" panose="020B0604020202020204" pitchFamily="34" charset="0"/>
              <a:buChar char="•"/>
            </a:pPr>
            <a:r>
              <a:rPr dirty="0"/>
              <a:t>Time-series forecasting</a:t>
            </a:r>
            <a:endParaRPr lang="en-US" dirty="0"/>
          </a:p>
          <a:p>
            <a:pPr marL="285750" indent="-285750">
              <a:buFont typeface="Arial" panose="020B0604020202020204" pitchFamily="34" charset="0"/>
              <a:buChar char="•"/>
            </a:pPr>
            <a:r>
              <a:rPr dirty="0"/>
              <a:t>Price elasticity estimation</a:t>
            </a:r>
            <a:endParaRPr lang="en-US" dirty="0"/>
          </a:p>
          <a:p>
            <a:pPr marL="285750" indent="-285750">
              <a:buFont typeface="Arial" panose="020B0604020202020204" pitchFamily="34" charset="0"/>
              <a:buChar char="•"/>
            </a:pPr>
            <a:r>
              <a:rPr dirty="0"/>
              <a:t>NLP sentiment analysis</a:t>
            </a:r>
            <a:endParaRPr lang="en-US" dirty="0"/>
          </a:p>
          <a:p>
            <a:pPr marL="285750" indent="-285750">
              <a:buFont typeface="Arial" panose="020B0604020202020204" pitchFamily="34" charset="0"/>
              <a:buChar char="•"/>
            </a:pPr>
            <a:r>
              <a:rPr dirty="0"/>
              <a:t>Cloud data pipelines</a:t>
            </a:r>
            <a:endParaRPr lang="en-US" dirty="0"/>
          </a:p>
          <a:p>
            <a:pPr marL="285750" indent="-285750">
              <a:buFont typeface="Arial" panose="020B0604020202020204" pitchFamily="34" charset="0"/>
              <a:buChar char="•"/>
            </a:pPr>
            <a:r>
              <a:rPr dirty="0"/>
              <a:t>REST APIs</a:t>
            </a:r>
            <a:endParaRPr lang="en-US" dirty="0"/>
          </a:p>
          <a:p>
            <a:pPr marL="285750" indent="-285750">
              <a:buFont typeface="Arial" panose="020B0604020202020204" pitchFamily="34" charset="0"/>
              <a:buChar char="•"/>
            </a:pPr>
            <a:r>
              <a:rPr dirty="0"/>
              <a:t>Web dashboar</a:t>
            </a:r>
            <a:r>
              <a:rPr lang="en-US" dirty="0"/>
              <a:t>d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Estimated implementation cost (optional):</a:t>
            </a:r>
            <a:endParaRPr>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r>
              <a:rPr lang="en-GB" sz="1700" b="1" dirty="0">
                <a:solidFill>
                  <a:srgbClr val="202729"/>
                </a:solidFill>
                <a:latin typeface="Manrope"/>
                <a:ea typeface="Manrope"/>
                <a:cs typeface="Manrope"/>
                <a:sym typeface="Manrope"/>
              </a:rPr>
              <a:t>Add as per the requirements for the hackathon:</a:t>
            </a:r>
            <a:br>
              <a:rPr lang="en-GB" sz="1700" b="1" dirty="0">
                <a:solidFill>
                  <a:srgbClr val="202729"/>
                </a:solidFill>
                <a:latin typeface="Manrope"/>
                <a:ea typeface="Manrope"/>
                <a:cs typeface="Manrope"/>
                <a:sym typeface="Manrope"/>
              </a:rPr>
            </a:br>
            <a:br>
              <a:rPr lang="en-GB" sz="1700" b="1" dirty="0">
                <a:solidFill>
                  <a:srgbClr val="202729"/>
                </a:solidFill>
                <a:latin typeface="Manrope"/>
                <a:ea typeface="Manrope"/>
                <a:cs typeface="Manrope"/>
                <a:sym typeface="Manrope"/>
              </a:rPr>
            </a:br>
            <a:r>
              <a:rPr lang="en-US" dirty="0"/>
              <a:t>ShelfIQ helps retailers:</a:t>
            </a:r>
          </a:p>
          <a:p>
            <a:r>
              <a:rPr lang="en-US" dirty="0"/>
              <a:t>respond faster to competitor moves</a:t>
            </a:r>
          </a:p>
          <a:p>
            <a:r>
              <a:rPr lang="en-US" dirty="0"/>
              <a:t>avoid unnecessary price drops</a:t>
            </a:r>
          </a:p>
          <a:p>
            <a:r>
              <a:rPr lang="en-US" dirty="0"/>
              <a:t>prevent stockouts</a:t>
            </a:r>
          </a:p>
          <a:p>
            <a:r>
              <a:rPr lang="en-US" dirty="0"/>
              <a:t>protect margin</a:t>
            </a:r>
          </a:p>
          <a:p>
            <a:r>
              <a:rPr lang="en-US" dirty="0"/>
              <a:t>Even 1% better pricing decision can increase revenue noticeably.</a:t>
            </a:r>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306</Words>
  <Application>Microsoft Macintosh PowerPoint</Application>
  <PresentationFormat>On-screen Show (16:9)</PresentationFormat>
  <Paragraphs>67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Manrope SemiBold</vt:lpstr>
      <vt:lpstr>Arial</vt:lpstr>
      <vt:lpstr>Manrope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Jeejo Joy</cp:lastModifiedBy>
  <cp:revision>3</cp:revision>
  <dcterms:modified xsi:type="dcterms:W3CDTF">2026-02-15T08:42:21Z</dcterms:modified>
</cp:coreProperties>
</file>